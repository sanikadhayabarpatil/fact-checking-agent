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ln w="38100" cap="flat">
              <a:solidFill>
                <a:srgbClr val="0D737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7377"/>
              </a:solidFill>
              <a:ln w="9525" cap="flat">
                <a:solidFill>
                  <a:srgbClr val="0D7377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C2B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v1</c:v>
                </c:pt>
                <c:pt idx="1">
                  <c:v>v2</c:v>
                </c:pt>
                <c:pt idx="2">
                  <c:v>v4</c:v>
                </c:pt>
                <c:pt idx="3">
                  <c:v>v5</c:v>
                </c:pt>
                <c:pt idx="4">
                  <c:v>v6</c:v>
                </c:pt>
                <c:pt idx="5">
                  <c:v>v7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</c:v>
                </c:pt>
                <c:pt idx="1">
                  <c:v>75</c:v>
                </c:pt>
                <c:pt idx="2">
                  <c:v>85</c:v>
                </c:pt>
                <c:pt idx="3">
                  <c:v>86.1</c:v>
                </c:pt>
                <c:pt idx="4">
                  <c:v>90.2</c:v>
                </c:pt>
                <c:pt idx="5">
                  <c:v>95.2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995-6D4B-A71D-DE1A74E06C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4A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4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2990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Fact-Checking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4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3591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  ·  Medhavi Project  ·  May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182880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95.2%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4135831"/>
            <a:ext cx="18288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Accuracy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34640" y="3200400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80360" y="3291840"/>
            <a:ext cx="182880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726 → ~15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80360" y="4135831"/>
            <a:ext cx="18288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/ Chapter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37760" y="3200400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3291840"/>
            <a:ext cx="182880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983480" y="4135831"/>
            <a:ext cx="18288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Outputs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40880" y="3200400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86600" y="3291840"/>
            <a:ext cx="182880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A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086600" y="4135831"/>
            <a:ext cx="18288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Fixed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286000" cy="310896"/>
          </a:xfrm>
          <a:prstGeom prst="roundRect">
            <a:avLst>
              <a:gd name="adj" fmla="val 29412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Two-Step Protocol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54864" cy="35661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0624" y="1207008"/>
            <a:ext cx="3877056" cy="3657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" y="1207008"/>
            <a:ext cx="3877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" y="1691640"/>
            <a:ext cx="182880" cy="1828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664208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oncology textbooks contain hallucinations —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dates, wrong statistics, wrong drug approvals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" y="2350008"/>
            <a:ext cx="182880" cy="1828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322576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chapters cannot be reviewed manually at scale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" y="3008376"/>
            <a:ext cx="182880" cy="1828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980944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web search returns aggregators, not primary sources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" y="3666744"/>
            <a:ext cx="182880" cy="1828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639312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screening age or drug dose reaches students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1207008"/>
            <a:ext cx="42976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80560" y="1207008"/>
            <a:ext cx="54864" cy="3566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35424" y="1207008"/>
            <a:ext cx="4242816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35424" y="1207008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1691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AI Pass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21488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reads every chapter. Extracts targeted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assertions. Classifies each as Correct, Incorrect, or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Review using evidence + override rules.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28712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Tavily Verification Pass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331012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assertions are sent to a 5-iteration web search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 PubMed + Tavily retrieval. Majority vote produces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Unanimous / Strong / Weak confidence verdict.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40416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 definition (Evin's taxonomy): STAT · GUIDELINE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· EVIDENCE · SPECIALIST · CURRENT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286000" cy="310896"/>
          </a:xfrm>
          <a:prstGeom prst="roundRect">
            <a:avLst>
              <a:gd name="adj" fmla="val 29412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Architecture &amp; Data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023360" cy="621792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54864" cy="621792"/>
          </a:xfrm>
          <a:prstGeom prst="rect">
            <a:avLst/>
          </a:prstGeom>
          <a:solidFill>
            <a:srgbClr val="8894A0"/>
          </a:solidFill>
          <a:ln w="12700">
            <a:solidFill>
              <a:srgbClr val="889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435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517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all pipeline parameters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956816"/>
            <a:ext cx="4023360" cy="621792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956816"/>
            <a:ext cx="54864" cy="621792"/>
          </a:xfrm>
          <a:prstGeom prst="rect">
            <a:avLst/>
          </a:prstGeom>
          <a:solidFill>
            <a:srgbClr val="8894A0"/>
          </a:solidFill>
          <a:ln w="12700">
            <a:solidFill>
              <a:srgbClr val="889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993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prompt.py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267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+ fact-check prompts. Defines what an assertion is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706624"/>
            <a:ext cx="4023360" cy="621792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706624"/>
            <a:ext cx="54864" cy="621792"/>
          </a:xfrm>
          <a:prstGeom prst="rect">
            <a:avLst/>
          </a:prstGeom>
          <a:solidFill>
            <a:srgbClr val="8894A0"/>
          </a:solidFill>
          <a:ln w="12700">
            <a:solidFill>
              <a:srgbClr val="889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logger.py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logging singleton used across all modules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456432"/>
            <a:ext cx="4023360" cy="621792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456432"/>
            <a:ext cx="54864" cy="621792"/>
          </a:xfrm>
          <a:prstGeom prst="rect">
            <a:avLst/>
          </a:prstGeom>
          <a:solidFill>
            <a:srgbClr val="8894A0"/>
          </a:solidFill>
          <a:ln w="12700">
            <a:solidFill>
              <a:srgbClr val="889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493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rag.py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767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token-overlap RAG for chapter-level context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4222563"/>
            <a:ext cx="4023360" cy="621792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4206240"/>
            <a:ext cx="54864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2428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scientific_fact_checker.py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517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core — 2,000 lines. Extraction, override pipeline, verdict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1207008"/>
            <a:ext cx="4389120" cy="621792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0" y="1207008"/>
            <a:ext cx="54864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09160" y="12435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run_stage1.py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09160" y="151790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runner — chapter select, Tavily preflight, CSV/JSON output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1956816"/>
            <a:ext cx="4389120" cy="621792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0" y="1956816"/>
            <a:ext cx="54864" cy="62179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9160" y="19933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reverify_flagged_v7.py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09160" y="22677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1,354 lines. 5-iteration verification engine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2706624"/>
            <a:ext cx="4389120" cy="621792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0" y="2706624"/>
            <a:ext cx="54864" cy="6217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09160" y="27432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stage3_consolidate.py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09160" y="30175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merges all outputs into expert-review XLSX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0" y="3456432"/>
            <a:ext cx="4389120" cy="621792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72000" y="3456432"/>
            <a:ext cx="54864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09160" y="34930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run_full_pipeline.py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09160" y="3767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Single-command runner for all three stages in sequence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4892040"/>
            <a:ext cx="128016" cy="12801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02920" y="487481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057400" y="4892040"/>
            <a:ext cx="128016" cy="128016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240280" y="4858525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785616" y="4892040"/>
            <a:ext cx="128016" cy="12801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952626" y="4858525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482092" y="4909271"/>
            <a:ext cx="128016" cy="12801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715000" y="4853991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Runner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091436" y="4909271"/>
            <a:ext cx="128016" cy="128016"/>
          </a:xfrm>
          <a:prstGeom prst="rect">
            <a:avLst/>
          </a:prstGeom>
          <a:solidFill>
            <a:srgbClr val="8894A0"/>
          </a:solidFill>
          <a:ln w="12700">
            <a:solidFill>
              <a:srgbClr val="889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406640" y="487481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Utilities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286000" cy="310896"/>
          </a:xfrm>
          <a:prstGeom prst="roundRect">
            <a:avLst>
              <a:gd name="adj" fmla="val 29412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&amp; Flagging — scientific_fact_checker.py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0690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54864" cy="3566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74904" y="1207008"/>
            <a:ext cx="4014216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4904" y="1207008"/>
            <a:ext cx="4014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FLOW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00784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700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16824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read_chapter()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4672" y="19202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.md file from Chapters/ folder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322576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322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23042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extract_assertions_multi_run()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4672" y="25420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chunks (5000 chars, 1000 overlap)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extracts assertions per chunk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944368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944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29260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create_master_list()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4672" y="316382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Deduplicates by exact original_statement.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category + why_check fields through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" y="35478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run_stage1_factcheck()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4672" y="378561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Per-assertion: Tavily search (basic) +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verdict + 7-override pipeline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187952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18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" y="4169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4672" y="44074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stage1_results.csv + stage1_flagged.json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stage1_master_assertions.csv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1207008"/>
            <a:ext cx="420624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0" y="1207008"/>
            <a:ext cx="54864" cy="35661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26864" y="1207008"/>
            <a:ext cx="4151376" cy="3474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26864" y="1207008"/>
            <a:ext cx="4151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7-OVERRIDE PIPELINE (applied in order)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1682496"/>
            <a:ext cx="502920" cy="237744"/>
          </a:xfrm>
          <a:prstGeom prst="roundRect">
            <a:avLst>
              <a:gd name="adj" fmla="val 38462"/>
            </a:avLst>
          </a:prstGeom>
          <a:solidFill>
            <a:srgbClr val="8894A0"/>
          </a:solidFill>
          <a:ln w="12700">
            <a:solidFill>
              <a:srgbClr val="889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63440" y="168249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57800" y="166420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&lt; 0.97 → Flagged for Review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2139696"/>
            <a:ext cx="502920" cy="237744"/>
          </a:xfrm>
          <a:prstGeom prst="roundRect">
            <a:avLst>
              <a:gd name="adj" fmla="val 38462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63440" y="213969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57800" y="212140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high-risk detector — proactively flags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error categories regardless of model verdict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2596896"/>
            <a:ext cx="502920" cy="237744"/>
          </a:xfrm>
          <a:prstGeom prst="roundRect">
            <a:avLst>
              <a:gd name="adj" fmla="val 38462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63440" y="259689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57800" y="257860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detector — Correct → Flagged when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admits an error in its own text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3054096"/>
            <a:ext cx="502920" cy="237744"/>
          </a:xfrm>
          <a:prstGeom prst="roundRect">
            <a:avLst>
              <a:gd name="adj" fmla="val 38462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663440" y="305409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57800" y="303580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Absolute-language veto — flags universal claims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(always/exclusively/only/universally)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63440" y="3511296"/>
            <a:ext cx="502920" cy="237744"/>
          </a:xfrm>
          <a:prstGeom prst="roundRect">
            <a:avLst>
              <a:gd name="adj" fmla="val 38462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663440" y="351129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257800" y="349300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self-check — secondary Gemini call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exact statistics in Correct verdicts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3968496"/>
            <a:ext cx="502920" cy="237744"/>
          </a:xfrm>
          <a:prstGeom prst="roundRect">
            <a:avLst>
              <a:gd name="adj" fmla="val 38462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663440" y="396849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57800" y="395020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false-Correct catches — 12 regex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for known recurring errors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63440" y="4425696"/>
            <a:ext cx="502920" cy="237744"/>
          </a:xfrm>
          <a:prstGeom prst="roundRect">
            <a:avLst>
              <a:gd name="adj" fmla="val 38462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663440" y="442569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57800" y="440740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false-Incorrect rescue —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correct claims wrongly flagged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20040" y="4800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verdicts: 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645920" y="4791456"/>
            <a:ext cx="2011680" cy="219456"/>
          </a:xfrm>
          <a:prstGeom prst="roundRect">
            <a:avLst>
              <a:gd name="adj" fmla="val 4166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645920" y="47914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931920" y="4791456"/>
            <a:ext cx="2011680" cy="219456"/>
          </a:xfrm>
          <a:prstGeom prst="roundRect">
            <a:avLst>
              <a:gd name="adj" fmla="val 41667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931920" y="47914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17920" y="4791456"/>
            <a:ext cx="2011680" cy="219456"/>
          </a:xfrm>
          <a:prstGeom prst="roundRect">
            <a:avLst>
              <a:gd name="adj" fmla="val 41667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217920" y="47914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Review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286000" cy="310896"/>
          </a:xfrm>
          <a:prstGeom prst="roundRect">
            <a:avLst>
              <a:gd name="adj" fmla="val 29412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5-Iteration Verification Engine — reverify_flagged_v7.py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05840" y="1207008"/>
            <a:ext cx="502920" cy="502920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08760" y="1426464"/>
            <a:ext cx="548640" cy="5486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164592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54864" cy="292608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" y="19385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Gen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" y="2249424"/>
            <a:ext cx="142646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generates 5 independent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angles per assertion: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concept, specific figure,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context, synonyms,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0" y="1207008"/>
            <a:ext cx="502920" cy="502920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0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46120" y="1426464"/>
            <a:ext cx="548640" cy="5486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057400" y="1874520"/>
            <a:ext cx="164592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57400" y="1874520"/>
            <a:ext cx="54864" cy="292608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03704" y="19385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03704" y="2249424"/>
            <a:ext cx="142646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 eUtils (40 PMIDs,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top-8 ranked by relevance)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Tavily advanced search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direct HTTP for anchor URLs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(govt domains blocked scrapers)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80560" y="1207008"/>
            <a:ext cx="502920" cy="502920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80560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83480" y="1426464"/>
            <a:ext cx="548640" cy="5486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94760" y="1874520"/>
            <a:ext cx="164592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794760" y="1874520"/>
            <a:ext cx="54864" cy="292608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941064" y="19385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Extract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41064" y="2249424"/>
            <a:ext cx="142646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extracts structured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facts: years, percentages,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proper-noun spellings.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model reading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figures from evidence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1207008"/>
            <a:ext cx="502920" cy="502920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17920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20840" y="1426464"/>
            <a:ext cx="548640" cy="5486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532120" y="1874520"/>
            <a:ext cx="164592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532120" y="1874520"/>
            <a:ext cx="54864" cy="292608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78424" y="19385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78424" y="2249424"/>
            <a:ext cx="142646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verifies with 3 rules: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(one claim only)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OPEN-WORLD (absence ≠ false)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CONFIRMATION (round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integers ≥10% need source)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955280" y="1207008"/>
            <a:ext cx="502920" cy="502920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955280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269480" y="1874520"/>
            <a:ext cx="164592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269480" y="1874520"/>
            <a:ext cx="54864" cy="292608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415784" y="19385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+ Vote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15784" y="2249424"/>
            <a:ext cx="142646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gate (both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directions). Vote counted.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all 5 iterations: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determines verdict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4736592"/>
            <a:ext cx="8503920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84048" y="4754880"/>
            <a:ext cx="1627632" cy="201168"/>
          </a:xfrm>
          <a:prstGeom prst="roundRect">
            <a:avLst>
              <a:gd name="adj" fmla="val 45455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84048" y="475488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Unanimous (5/5)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103120" y="4754880"/>
            <a:ext cx="1627632" cy="201168"/>
          </a:xfrm>
          <a:prstGeom prst="roundRect">
            <a:avLst>
              <a:gd name="adj" fmla="val 45455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103120" y="475488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(4/5)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822192" y="4754880"/>
            <a:ext cx="1627632" cy="201168"/>
          </a:xfrm>
          <a:prstGeom prst="roundRect">
            <a:avLst>
              <a:gd name="adj" fmla="val 45455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822192" y="475488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(3/5)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41264" y="4754880"/>
            <a:ext cx="1627632" cy="201168"/>
          </a:xfrm>
          <a:prstGeom prst="roundRect">
            <a:avLst>
              <a:gd name="adj" fmla="val 45455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541264" y="475488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260336" y="4754880"/>
            <a:ext cx="1627632" cy="201168"/>
          </a:xfrm>
          <a:prstGeom prst="roundRect">
            <a:avLst>
              <a:gd name="adj" fmla="val 45455"/>
            </a:avLst>
          </a:prstGeom>
          <a:solidFill>
            <a:srgbClr val="8894A0"/>
          </a:solidFill>
          <a:ln w="12700">
            <a:solidFill>
              <a:srgbClr val="889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260336" y="475488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286000" cy="310896"/>
          </a:xfrm>
          <a:prstGeom prst="roundRect">
            <a:avLst>
              <a:gd name="adj" fmla="val 29412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and Achieved 95.2%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170432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32120" y="1170432"/>
            <a:ext cx="3291840" cy="3291840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532120" y="1170432"/>
            <a:ext cx="3291840" cy="310896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532120" y="11704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CHANGE PER VERSION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96128" y="1572768"/>
            <a:ext cx="822960" cy="219456"/>
          </a:xfrm>
          <a:prstGeom prst="roundRect">
            <a:avLst>
              <a:gd name="adj" fmla="val 4166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596128" y="15727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→ v2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92240" y="155448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queries, open-world rule, PubMed enabled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596128" y="2084832"/>
            <a:ext cx="822960" cy="219456"/>
          </a:xfrm>
          <a:prstGeom prst="roundRect">
            <a:avLst>
              <a:gd name="adj" fmla="val 4166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596128" y="20848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→ v4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92240" y="206654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URLs, synonym expansion, structured facts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596128" y="2596896"/>
            <a:ext cx="822960" cy="219456"/>
          </a:xfrm>
          <a:prstGeom prst="roundRect">
            <a:avLst>
              <a:gd name="adj" fmla="val 4166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596128" y="25968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→ v5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92240" y="257860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 mechanism, direct HTTP fetch (govt domains)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596128" y="3108960"/>
            <a:ext cx="822960" cy="219456"/>
          </a:xfrm>
          <a:prstGeom prst="roundRect">
            <a:avLst>
              <a:gd name="adj" fmla="val 4166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596128" y="310896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→ v6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92240" y="30906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F6–F12: FS flag narrowed, KB-safe historical, 8 new anchors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596128" y="3621024"/>
            <a:ext cx="822960" cy="219456"/>
          </a:xfrm>
          <a:prstGeom prst="roundRect">
            <a:avLst>
              <a:gd name="adj" fmla="val 4166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596128" y="362102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 → v7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92240" y="360273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P1–P3: anchor authority, mechanistic KB-safe, stats fix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20040" y="4599432"/>
            <a:ext cx="8503920" cy="402336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57200" y="4663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Measurement: 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645920" y="466344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assembled from primary sources (NCI, WHO, SEER, PMC) for 42 assessed assertions per chapter. Accuracy = correct verdicts / total assessed. Unanimous label assessed separately (100% on v7 run, 24T+9F).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286000" cy="310896"/>
          </a:xfrm>
          <a:prstGeom prst="roundRect">
            <a:avLst>
              <a:gd name="adj" fmla="val 29412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Used — Purpose &amp; Placement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02336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54864" cy="17373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74904" y="1170432"/>
            <a:ext cx="3968496" cy="310896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4904" y="1170432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" y="155448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LLM for all AI reasoning tasks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" y="1828800"/>
            <a:ext cx="3822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Stage 1: assertion extraction from chapter chunks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Stage 1: fact-check verdict per assertion (Override pipeline)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Stage 1: numeric self-check (Override C secondary call)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344" y="257860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scientific_fact_checker.py · reverify_flagged_v7.py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3127248"/>
            <a:ext cx="402336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3127248"/>
            <a:ext cx="54864" cy="1737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4904" y="3127248"/>
            <a:ext cx="3968496" cy="31089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4904" y="3127248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Search API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" y="351129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evidence retrieval for fact verification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" y="3785616"/>
            <a:ext cx="3822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Stage 1: basic search (1 credit/call) per assertion for citations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Stage 2: advanced search (2 credits/call) per iteration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Both: v2 Bearer auth with v1 body fallback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" y="453542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scientific_fact_checker.py (search_tavily()) · reverify_flagged_v7.py (retrieve_tavily())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0" y="1170432"/>
            <a:ext cx="402336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0" y="1170432"/>
            <a:ext cx="54864" cy="17373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26864" y="1170432"/>
            <a:ext cx="3968496" cy="31089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26864" y="1170432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 PubMed eUtils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18304" y="155448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medical literature retrieval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18304" y="1828800"/>
            <a:ext cx="3822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Stage 2: esearch → 40 PMIDs per query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Stage 2: efetch → top-8 abstracts ranked by relevance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Used for all claim types including historical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18304" y="257860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reverify_flagged_v7.py (pubmed_esearch() · pubmed_efetch_abstracts())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0" y="3127248"/>
            <a:ext cx="402336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0" y="3127248"/>
            <a:ext cx="54864" cy="1737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26864" y="3127248"/>
            <a:ext cx="3968496" cy="31089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26864" y="3127248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HTTP (requests library)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18304" y="3511296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 fetching for govt/medical domains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18304" y="3785616"/>
            <a:ext cx="3822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Stage 2: Tavily's headless scraper blocked by cancer.gov, nih.gov, cdc.gov, hhs.gov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Direct GET with real browser User-Agent header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15 anchor URL seeds: NCI, PMC, CDC, HHS pages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18304" y="453542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reverify_flagged_v7.py (_direct_fetch_url() · _get_anchor_urls())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286000" cy="310896"/>
          </a:xfrm>
          <a:prstGeom prst="roundRect">
            <a:avLst>
              <a:gd name="adj" fmla="val 29412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+ OUTPUTS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&amp; Expert Review XLSX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023360" cy="1078992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54864" cy="10789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6344" y="126187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stage1_master_assertions.csv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344" y="1591056"/>
            <a:ext cx="3822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extracted assertions with index, original statement,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assertion, category, why_check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395728"/>
            <a:ext cx="4023360" cy="1078992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395728"/>
            <a:ext cx="54864" cy="10789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" y="24871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stage1_results.csv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" y="2816352"/>
            <a:ext cx="3822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Stage 1 output: verdict, confidence, reasoning,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analysis, concerns, citations per assertion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621024"/>
            <a:ext cx="4023360" cy="1078992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3621024"/>
            <a:ext cx="54864" cy="10789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" y="3712464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stage1_flagged_assertions.json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" y="4041648"/>
            <a:ext cx="3822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Subset: only Flagged for Review — input feed to Stage 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1170432"/>
            <a:ext cx="4023360" cy="1078992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0" y="1170432"/>
            <a:ext cx="54864" cy="10789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18304" y="126187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stage2_results.json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18304" y="1591056"/>
            <a:ext cx="3822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Stage 2 output: all 5 iterations, votes, citations,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— primary audit trail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2395728"/>
            <a:ext cx="4023360" cy="1078992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0" y="2395728"/>
            <a:ext cx="54864" cy="10789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18304" y="24871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stage2_results.csv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18304" y="2816352"/>
            <a:ext cx="3822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summary: verdict, confidence label,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breakdown, citations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3621024"/>
            <a:ext cx="4023360" cy="1078992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0" y="3621024"/>
            <a:ext cx="54864" cy="10789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18304" y="3712464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stage3_consolidated.xlsx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18304" y="4041648"/>
            <a:ext cx="3822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Single-sheet XLSX — Section 1: all Stage 2 results (22 cols)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expert review queue with blank input columns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80974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 design: 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54480" y="4809744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'Stage 2 Results'. Freeze pane E4. Column widths calibrated (assertion=52, reasoning=55, codes=8–14). Section 2 groups by claim type, sorted Weak→Strong. Expert Verdict + Expert Notes columns highlighted for input.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286000" cy="310896"/>
          </a:xfrm>
          <a:prstGeom prst="roundRect">
            <a:avLst>
              <a:gd name="adj" fmla="val 29412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 TAXONOMY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Evin's Six-Category Framework — What Requires Tavily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2743200" cy="1719072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54864" cy="17190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74904" y="1207008"/>
            <a:ext cx="2688336" cy="31089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4904" y="1207008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" y="1591056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numerical claims: survival rates, incidence,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prevalence, hazard ratios, mutation frequencies.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SEER, GLOBOCAN, clinical trials.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percentages, ranked incidence, case counts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27832" y="1207008"/>
            <a:ext cx="2743200" cy="1719072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27832" y="1207008"/>
            <a:ext cx="54864" cy="171907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82696" y="1207008"/>
            <a:ext cx="2688336" cy="310896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82696" y="1207008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74136" y="1591056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Treatment/staging recommendations, standard-of-care.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staging systems presented as current.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NCCN, ASCO, WHO, FIGO.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'should be', 'first-line', 'standard of care'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35624" y="1207008"/>
            <a:ext cx="2743200" cy="1719072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35624" y="1207008"/>
            <a:ext cx="54864" cy="17190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90488" y="1207008"/>
            <a:ext cx="2688336" cy="31089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90488" y="1207008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81928" y="1591056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status and biomarker-drug relationships.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FDA/EMA approval, companion diagnostic status.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FDA drug database.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'FDA-approved', 'predicts response to'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081528"/>
            <a:ext cx="2743200" cy="1719072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081528"/>
            <a:ext cx="54864" cy="17190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4904" y="3081528"/>
            <a:ext cx="2688336" cy="31089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4904" y="3081528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" y="3465576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attributed to specific studies or discoveries.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Coined phenomenon names (Warburg, Okazaki, Hayflick).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Primary publication.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'was shown', 'demonstrated', named researchers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27832" y="3081528"/>
            <a:ext cx="2743200" cy="1719072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27832" y="3081528"/>
            <a:ext cx="54864" cy="17190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82696" y="3081528"/>
            <a:ext cx="2688336" cy="31089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82696" y="3081528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74136" y="3465576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Expert-level molecular causal claims. Named genes/proteins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functional relationships. Placeholder test: replace all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entities — if a verifiable claim remains: SPECIALIST.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directional action verbs + molecular specificity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35624" y="3081528"/>
            <a:ext cx="2743200" cy="1719072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35624" y="3081528"/>
            <a:ext cx="54864" cy="1719072"/>
          </a:xfrm>
          <a:prstGeom prst="rect">
            <a:avLst/>
          </a:prstGeom>
          <a:solidFill>
            <a:srgbClr val="14A7AC"/>
          </a:solidFill>
          <a:ln w="12700">
            <a:solidFill>
              <a:srgbClr val="14A7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90488" y="3081528"/>
            <a:ext cx="2688336" cy="310896"/>
          </a:xfrm>
          <a:prstGeom prst="rect">
            <a:avLst/>
          </a:prstGeom>
          <a:solidFill>
            <a:srgbClr val="14A7AC"/>
          </a:solidFill>
          <a:ln w="12700">
            <a:solidFill>
              <a:srgbClr val="14A7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90488" y="3081528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81928" y="3465576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technology capability claims. CAR-T, liquid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biopsy, spatial transcriptomics, AI diagnosis.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Highest-risk: Tavily checks if superseded.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'emerging', 'enables', 'next-generation', 'can now'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956048"/>
            <a:ext cx="8503920" cy="20116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983480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AI-ONLY (no Tavily): definitions · standard mechanistic descriptions · broad consensus · general epidemiological statements without numbers · named classification lists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286000" cy="310896"/>
          </a:xfrm>
          <a:prstGeom prst="roundRect">
            <a:avLst>
              <a:gd name="adj" fmla="val 29412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Progress &amp; Future Direction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54864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0624" y="1371600"/>
            <a:ext cx="2103120" cy="219456"/>
          </a:xfrm>
          <a:prstGeom prst="roundRect">
            <a:avLst>
              <a:gd name="adj" fmla="val 41667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" y="13716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— AWAITING DIRECTION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51760" y="122529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Prompt — Switch to Evin's 6-Category Taxonomy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151790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prompt.py written. Changes ASSERTION_EXTRACTION_PROMPT from exhaustive (~726/chapter) to targeted (~7–20/chapter) using STAT, GUIDELINE, APPROVAL, EVIDENCE, SPECIALIST, CURRENT categories with trigger patterns and few-shot examples from Evin's document. Reduces API cost ~90%. Awaiting Evin's go-ahead.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938528"/>
            <a:ext cx="8503920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1938528"/>
            <a:ext cx="54864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0624" y="2139696"/>
            <a:ext cx="2103120" cy="219456"/>
          </a:xfrm>
          <a:prstGeom prst="roundRect">
            <a:avLst>
              <a:gd name="adj" fmla="val 41667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0624" y="21396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— AWAITING API KEY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19933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Remaining Chapters on clean Gemini key (Dhruv)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228600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is production-ready. Config set to gemini-2.5-flash, GEMINI_TIMEOUT=120, BACKOFF_FACTOR=60. Waiting for Dhruv's key. Once received: run Chapters 3, 7, 11, 22 through full pipeline and deliver Stage 3 XLSX per chapter to Evin.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706624"/>
            <a:ext cx="8503920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706624"/>
            <a:ext cx="54864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0624" y="2907792"/>
            <a:ext cx="2103120" cy="219456"/>
          </a:xfrm>
          <a:prstGeom prst="roundRect">
            <a:avLst>
              <a:gd name="adj" fmla="val 4166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624" y="290779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DISCUSSION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51760" y="276148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Replacement — Direct Primary Source Checking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51760" y="305409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 flagged that Tavily returns aggregator pages, not primary sources. Proposed approach: per Evin's taxonomy, each category maps to a named source (STAT→SEER/GLOBOCAN, GUIDELINE→NCCN, APPROVAL→FDA, EVIDENCE→PubMed DOI). Requires citations to be added to chapter text first. Currently chapters have no inline citations.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474720"/>
            <a:ext cx="8503920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3474720"/>
            <a:ext cx="54864" cy="65836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0624" y="3675888"/>
            <a:ext cx="2103120" cy="219456"/>
          </a:xfrm>
          <a:prstGeom prst="roundRect">
            <a:avLst>
              <a:gd name="adj" fmla="val 41667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0624" y="36758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51760" y="352958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Verifier — Prevent Correlated Errors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51760" y="382219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Stage 2 iterations use the same Gemini model. Systematic model biases produce correlated errors across all 5 iterations simultaneously. Planned: run iterations across two models (Gemini + Claude Haiku). Uncorrelated errors become visible as disagreements rather than false Unanimous verdicts.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4242816"/>
            <a:ext cx="8503920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E8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0040" y="4242816"/>
            <a:ext cx="54864" cy="65836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20624" y="4443984"/>
            <a:ext cx="2103120" cy="219456"/>
          </a:xfrm>
          <a:prstGeom prst="roundRect">
            <a:avLst>
              <a:gd name="adj" fmla="val 41667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20624" y="444398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51760" y="42976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Cross-Chapter Consistency Check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51760" y="459028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pipeline operates per-chapter independently. A claim in Chapter 3 may contradict a claim in Chapter 7 without either being caught. Planned: after all chapters are run, cross-reference Stage 2 False verdicts across chapters to detect structural inconsistencies in the textbook.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1851</Words>
  <Application>Microsoft Macintosh PowerPoint</Application>
  <PresentationFormat>On-screen Show (16:9)</PresentationFormat>
  <Paragraphs>265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Two-Step Fact-Checking Protocol — Technical Deep Dive</dc:title>
  <dc:subject>PptxGenJS Presentation</dc:subject>
  <dc:creator>PptxGenJS</dc:creator>
  <cp:lastModifiedBy>Sanika Siddharth Dhayabar Patil</cp:lastModifiedBy>
  <cp:revision>2</cp:revision>
  <dcterms:created xsi:type="dcterms:W3CDTF">2026-05-13T23:58:04Z</dcterms:created>
  <dcterms:modified xsi:type="dcterms:W3CDTF">2026-05-14T00:24:56Z</dcterms:modified>
</cp:coreProperties>
</file>